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457200" cy="6748272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54864"/>
            <a:ext cx="36576" cy="674827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5029200"/>
            <a:ext cx="2286000" cy="3200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06577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B182C"/>
                </a:solidFill>
              </a:rPr>
              <a:t>CEO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5029200"/>
            <a:ext cx="2286000" cy="320040"/>
          </a:xfrm>
          <a:prstGeom prst="rect">
            <a:avLst/>
          </a:prstGeom>
          <a:solidFill>
            <a:srgbClr val="4A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506577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B182C"/>
                </a:solidFill>
              </a:rPr>
              <a:t>Executive Committee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5029200"/>
            <a:ext cx="2286000" cy="3200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506577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B182C"/>
                </a:solidFill>
              </a:rPr>
              <a:t>Managers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5029200"/>
            <a:ext cx="2286000" cy="3200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506577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B182C"/>
                </a:solidFill>
              </a:rPr>
              <a:t>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17"/>
                </a:solidFill>
              </a:rPr>
              <a:t>UK HOUSE PRICE 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783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Dashboard Suite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08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</a:rPr>
              <a:t>Data-driven insights for every organizational level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657600"/>
            <a:ext cx="731520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6 Metropolitan Regions  ·  Jan 1995 – Dec 2022  ·  2,004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97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474720" cy="6803136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4A017"/>
                </a:solidFill>
              </a:rPr>
              <a:t>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What we
are working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508760"/>
            <a:ext cx="2743200" cy="1828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69164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D4A017"/>
                </a:solidFill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8745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HPIAdmins · HPIAdmins_v1.xlsx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28600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D4A017"/>
                </a:solidFill>
              </a:rPr>
              <a:t>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4688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2,004 monthly observations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288036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D4A017"/>
                </a:solidFill>
              </a:rPr>
              <a:t>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06324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January 1995 — December 2022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347472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D4A017"/>
                </a:solidFill>
              </a:rPr>
              <a:t>REGIONS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36576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6 Metropolitan Areas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406908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D4A017"/>
                </a:solidFill>
              </a:rPr>
              <a:t>COLUMNS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" y="42519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26 (after cleaning)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" y="466344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D4A017"/>
                </a:solidFill>
              </a:rPr>
              <a:t>PROPERTY TYPES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48463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Detached · Semi-Det · Terraced · Flat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" y="525780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D4A017"/>
                </a:solidFill>
              </a:rPr>
              <a:t>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" y="54406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Avg price · Index · Volume · YoY% · MoM%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585216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D4A017"/>
                </a:solidFill>
              </a:rPr>
              <a:t>DATA GAPS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" y="603504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12 flagged rows (Nov–Dec 2016 missing vol.)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200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4A017"/>
                </a:solidFill>
              </a:rPr>
              <a:t>6 METROPOLITAN REGIONS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777240"/>
            <a:ext cx="2468880" cy="137160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480" y="777240"/>
            <a:ext cx="246888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50208" y="868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West Midlands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50208" y="11612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Midlands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50208" y="13990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£217,080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50208" y="1737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Growth: +381.4%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17373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Vol: 2,377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777240"/>
            <a:ext cx="2468880" cy="137160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777240"/>
            <a:ext cx="2468880" cy="36576"/>
          </a:xfrm>
          <a:prstGeom prst="rect">
            <a:avLst/>
          </a:prstGeom>
          <a:solidFill>
            <a:srgbClr val="4A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01968" y="868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Greater Manchester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968" y="11612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Northwest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1968" y="13990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£197,247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01968" y="1737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Growth: +378.3%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17373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Vol: 2,856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777240"/>
            <a:ext cx="2468880" cy="137160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4000" y="777240"/>
            <a:ext cx="2468880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53728" y="868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South Yorkshire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11612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North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53728" y="13990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£181,866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53728" y="1737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Growth: +364.0%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17373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Vol: 1,384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0" y="2331720"/>
            <a:ext cx="2468880" cy="137160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840480" y="2331720"/>
            <a:ext cx="2468880" cy="36576"/>
          </a:xfrm>
          <a:prstGeom prst="rect">
            <a:avLst/>
          </a:prstGeom>
          <a:solidFill>
            <a:srgbClr val="5C9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50208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West Yorkshire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50208" y="27157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North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50208" y="29535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£201,584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50208" y="329183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Growth: +352.2%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0" y="329183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Vol: 2,332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92240" y="2331720"/>
            <a:ext cx="2468880" cy="137160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92240" y="2331720"/>
            <a:ext cx="2468880" cy="36576"/>
          </a:xfrm>
          <a:prstGeom prst="rect">
            <a:avLst/>
          </a:prstGeom>
          <a:solidFill>
            <a:srgbClr val="C44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01968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Merseyside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01968" y="27157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Northwest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01968" y="29535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£179,493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01968" y="329183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Growth: +330.2%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0" y="329183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Vol: 1,175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00" y="2331720"/>
            <a:ext cx="2468880" cy="137160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144000" y="2331720"/>
            <a:ext cx="246888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53728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Tyne and Wear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53728" y="27157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North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53728" y="29535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£175,670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53728" y="329183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Growth: +323.8%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24160" y="329183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Vol: 1,022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6B8C"/>
                </a:solidFill>
              </a:rPr>
              <a:t>FOUR DASHBOARDS · FOUR AUDIENCES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One dataset. Tailored for every level.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097280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2651760" cy="521208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265176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35024"/>
            <a:ext cx="2651760" cy="54864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3716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4A017"/>
                </a:solidFill>
              </a:rPr>
              <a:t>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C-Suite / 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83664"/>
            <a:ext cx="2651760" cy="1828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79" y="2121408"/>
            <a:ext cx="64008" cy="6400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5740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21-year market trajectory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79" y="2624327"/>
            <a:ext cx="64008" cy="6400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56032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Regional growth ranking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79" y="3127248"/>
            <a:ext cx="64008" cy="6400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0632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Headline KPIs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6172200"/>
            <a:ext cx="2651760" cy="32004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61904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D4A017"/>
                </a:solidFill>
              </a:rPr>
              <a:t>CEO_HPIAdmins.html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1280160"/>
            <a:ext cx="2651760" cy="521208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46120" y="1280160"/>
            <a:ext cx="2651760" cy="54864"/>
          </a:xfrm>
          <a:prstGeom prst="rect">
            <a:avLst/>
          </a:prstGeom>
          <a:solidFill>
            <a:srgbClr val="4A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46120" y="1335024"/>
            <a:ext cx="2651760" cy="54864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55848" y="13716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6B8C"/>
                </a:solidFill>
              </a:rPr>
              <a:t>EXECUTIVE COMMITTEE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Senior Leadership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1883664"/>
            <a:ext cx="2651760" cy="18288"/>
          </a:xfrm>
          <a:prstGeom prst="rect">
            <a:avLst/>
          </a:prstGeom>
          <a:solidFill>
            <a:srgbClr val="4A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37560" y="2121408"/>
            <a:ext cx="64008" cy="64008"/>
          </a:xfrm>
          <a:prstGeom prst="rect">
            <a:avLst/>
          </a:prstGeom>
          <a:solidFill>
            <a:srgbClr val="4A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205740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4-tab strategic 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2624327"/>
            <a:ext cx="64008" cy="64008"/>
          </a:xfrm>
          <a:prstGeom prst="rect">
            <a:avLst/>
          </a:prstGeom>
          <a:solidFill>
            <a:srgbClr val="4A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256032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Property segment analysis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37560" y="3127248"/>
            <a:ext cx="64008" cy="64008"/>
          </a:xfrm>
          <a:prstGeom prst="rect">
            <a:avLst/>
          </a:prstGeom>
          <a:solidFill>
            <a:srgbClr val="4A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30632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Growth dynamics &amp; benchmarks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6172200"/>
            <a:ext cx="2651760" cy="32004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61904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4A6B8C"/>
                </a:solidFill>
              </a:rPr>
              <a:t>ExCo_HPIAdmins.html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1280160"/>
            <a:ext cx="2651760" cy="521208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1280160"/>
            <a:ext cx="2651760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1335024"/>
            <a:ext cx="2651760" cy="54864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81928" y="13716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6A4F"/>
                </a:solidFill>
              </a:rPr>
              <a:t>MANAGERS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Regional / Dept Managers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1883664"/>
            <a:ext cx="2651760" cy="1828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3640" y="2121408"/>
            <a:ext cx="64008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205740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Region status cards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2624327"/>
            <a:ext cx="64008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256032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Filterable trend charts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3127248"/>
            <a:ext cx="64008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30632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MoM + YoY signals + ranking table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6172200"/>
            <a:ext cx="2651760" cy="32004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3640" y="61904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2D6A4F"/>
                </a:solidFill>
              </a:rPr>
              <a:t>Mgr_HPIAdmins.html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98280" y="1280160"/>
            <a:ext cx="2651760" cy="521208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98280" y="1280160"/>
            <a:ext cx="2651760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98280" y="1335024"/>
            <a:ext cx="2651760" cy="54864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08008" y="13716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OPERATIONS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08008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Analysts / Data Teams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98280" y="1883664"/>
            <a:ext cx="265176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89720" y="2121408"/>
            <a:ext cx="64008" cy="6400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26880" y="205740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Full 1,572-row data console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89720" y="2624327"/>
            <a:ext cx="64008" cy="6400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0" y="256032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Real-time search &amp; filter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89720" y="3127248"/>
            <a:ext cx="64008" cy="6400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0" y="30632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Sortable table + data gap flags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98280" y="6172200"/>
            <a:ext cx="2651760" cy="32004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89720" y="61904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</a:rPr>
              <a:t>Ops_HPIAdmins.html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200400" cy="6803136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4A017"/>
                </a:solidFill>
              </a:rPr>
              <a:t>CEO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CEO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463040"/>
            <a:ext cx="2560320" cy="1828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6002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4A3B8"/>
                </a:solidFill>
              </a:rPr>
              <a:t>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C-Suite / 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1762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4A3B8"/>
                </a:solidFill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359152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Answers the single question: How is the market performing and where is it heading?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33101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4A3B8"/>
                </a:solidFill>
              </a:rPr>
              <a:t>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493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4A017"/>
                </a:solidFill>
              </a:rPr>
              <a:t>CEO_HPIAdmins.html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886200"/>
            <a:ext cx="2560320" cy="1828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40050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4A3B8"/>
                </a:solidFill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418795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Dark gold · Playfair serif · No filters needed · Scroll-free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82880"/>
            <a:ext cx="2011680" cy="100584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182880"/>
            <a:ext cx="201168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4A3B8"/>
                </a:solidFill>
              </a:rPr>
              <a:t>MARKET AVERAGE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£192,157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All regions combined · December 2022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182880"/>
            <a:ext cx="2011680" cy="100584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182880"/>
            <a:ext cx="201168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4A3B8"/>
                </a:solidFill>
              </a:rPr>
              <a:t>21-YEAR GROWTH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+355.2%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From £42,213 in 1995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182880"/>
            <a:ext cx="2011680" cy="100584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182880"/>
            <a:ext cx="201168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4A3B8"/>
                </a:solidFill>
              </a:rPr>
              <a:t>LEADING REGION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West Midlands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Highest total appreciation +381.4%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21240" y="182880"/>
            <a:ext cx="2011680" cy="100584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21240" y="182880"/>
            <a:ext cx="201168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4A3B8"/>
                </a:solidFill>
              </a:rPr>
              <a:t>MONTHLY VOLUME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11,146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Transactions · December 2022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14173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4A017"/>
                </a:solidFill>
              </a:rPr>
              <a:t>KEY OBSERVATIONS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1664208"/>
            <a:ext cx="8229600" cy="18288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74720" y="1828800"/>
            <a:ext cx="8138160" cy="86868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74720" y="1828800"/>
            <a:ext cx="457200" cy="8686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84448" y="202996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82C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41648" y="193852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Market avg grew +355.2% over 21 years — from £42k to £192k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0" y="2834640"/>
            <a:ext cx="8138160" cy="86868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74720" y="2834640"/>
            <a:ext cx="457200" cy="8686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84448" y="303580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82C"/>
                </a:solidFill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41648" y="294436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West Midlands leads with +381.4% total price appreciation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3840480"/>
            <a:ext cx="8138160" cy="86868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74720" y="3840480"/>
            <a:ext cx="457200" cy="8686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84448" y="404164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82C"/>
                </a:solidFill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41648" y="395020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Price spread across regions: £41k — significant regional divergence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0" y="4846320"/>
            <a:ext cx="8138160" cy="86868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74720" y="4846320"/>
            <a:ext cx="457200" cy="8686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84448" y="504748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82C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41648" y="495604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Clean annual trend chart with no noise — built for boardroom screens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200400" cy="6803136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6B8C"/>
                </a:solidFill>
              </a:rPr>
              <a:t>EXCO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Executive Committee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463040"/>
            <a:ext cx="2560320" cy="18288"/>
          </a:xfrm>
          <a:prstGeom prst="rect">
            <a:avLst/>
          </a:prstGeom>
          <a:solidFill>
            <a:srgbClr val="4A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6002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4A3B8"/>
                </a:solidFill>
              </a:rPr>
              <a:t>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Senior Leadership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1762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4A3B8"/>
                </a:solidFill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359152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Strategic landscape: regional dynamics, property segments, and growth benchmarks.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33101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4A3B8"/>
                </a:solidFill>
              </a:rPr>
              <a:t>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493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6B8C"/>
                </a:solidFill>
              </a:rPr>
              <a:t>ExCo_HPIAdmins.html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886200"/>
            <a:ext cx="2560320" cy="18288"/>
          </a:xfrm>
          <a:prstGeom prst="rect">
            <a:avLst/>
          </a:prstGeom>
          <a:solidFill>
            <a:srgbClr val="4A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40050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4A3B8"/>
                </a:solidFill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418795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Dark blue · Tabbed navigation · Click to explore · Interactive legend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82880"/>
            <a:ext cx="2011680" cy="100584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182880"/>
            <a:ext cx="2011680" cy="36576"/>
          </a:xfrm>
          <a:prstGeom prst="rect">
            <a:avLst/>
          </a:prstGeom>
          <a:solidFill>
            <a:srgbClr val="4A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4A3B8"/>
                </a:solidFill>
              </a:rPr>
              <a:t>TABS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4 Views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Market · Regional · Segments · Growth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182880"/>
            <a:ext cx="2011680" cy="100584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182880"/>
            <a:ext cx="2011680" cy="36576"/>
          </a:xfrm>
          <a:prstGeom prst="rect">
            <a:avLst/>
          </a:prstGeom>
          <a:solidFill>
            <a:srgbClr val="4A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4A3B8"/>
                </a:solidFill>
              </a:rPr>
              <a:t>REGIONAL CARDS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6 cards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YoY%, price, volume, property types per region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182880"/>
            <a:ext cx="2011680" cy="100584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182880"/>
            <a:ext cx="2011680" cy="36576"/>
          </a:xfrm>
          <a:prstGeom prst="rect">
            <a:avLst/>
          </a:prstGeom>
          <a:solidFill>
            <a:srgbClr val="4A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4A3B8"/>
                </a:solidFill>
              </a:rPr>
              <a:t>SEGMENT PREMIUM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+143.1%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Detached vs Flat price gap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21240" y="182880"/>
            <a:ext cx="2011680" cy="100584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21240" y="182880"/>
            <a:ext cx="2011680" cy="36576"/>
          </a:xfrm>
          <a:prstGeom prst="rect">
            <a:avLst/>
          </a:prstGeom>
          <a:solidFill>
            <a:srgbClr val="4A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4A3B8"/>
                </a:solidFill>
              </a:rPr>
              <a:t>GROWTH TABLE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Full ranking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1995→2022 start/end/growth per region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14173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6B8C"/>
                </a:solidFill>
              </a:rPr>
              <a:t>KEY OBSERVATIONS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1664208"/>
            <a:ext cx="8229600" cy="18288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74720" y="1828800"/>
            <a:ext cx="8138160" cy="86868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74720" y="1828800"/>
            <a:ext cx="457200" cy="868680"/>
          </a:xfrm>
          <a:prstGeom prst="rect">
            <a:avLst/>
          </a:prstGeom>
          <a:solidFill>
            <a:srgbClr val="4A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84448" y="202996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82C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41648" y="193852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Tab 1 — Market Overview: aggregate trends and YoY summary across all regions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0" y="2834640"/>
            <a:ext cx="8138160" cy="86868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74720" y="2834640"/>
            <a:ext cx="457200" cy="868680"/>
          </a:xfrm>
          <a:prstGeom prst="rect">
            <a:avLst/>
          </a:prstGeom>
          <a:solidFill>
            <a:srgbClr val="4A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84448" y="303580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82C"/>
                </a:solidFill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41648" y="294436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Tab 2 — Regions: interactive cards showing each region's price, YoY, and property breakdown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3840480"/>
            <a:ext cx="8138160" cy="86868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74720" y="3840480"/>
            <a:ext cx="457200" cy="868680"/>
          </a:xfrm>
          <a:prstGeom prst="rect">
            <a:avLst/>
          </a:prstGeom>
          <a:solidFill>
            <a:srgbClr val="4A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84448" y="404164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82C"/>
                </a:solidFill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41648" y="395020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Tab 3 — Segments: Detached commands +143.1% premium over flats on average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0" y="4846320"/>
            <a:ext cx="8138160" cy="86868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74720" y="4846320"/>
            <a:ext cx="457200" cy="868680"/>
          </a:xfrm>
          <a:prstGeom prst="rect">
            <a:avLst/>
          </a:prstGeom>
          <a:solidFill>
            <a:srgbClr val="4A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84448" y="504748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82C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41648" y="495604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Tab 4 — Growth Dynamics: rolling YoY chart reveals 2007-2008 downturn and recovery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200400" cy="6803136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D6A4F"/>
                </a:solidFill>
              </a:rPr>
              <a:t>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Managers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463040"/>
            <a:ext cx="2560320" cy="1828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6002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4A3B8"/>
                </a:solidFill>
              </a:rPr>
              <a:t>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Regional / Department Managers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1762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4A3B8"/>
                </a:solidFill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359152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Drill into your region. Filter by area, time range, and monitor MoM/YoY signals.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33101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4A3B8"/>
                </a:solidFill>
              </a:rPr>
              <a:t>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493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D6A4F"/>
                </a:solidFill>
              </a:rPr>
              <a:t>Mgr_HPIAdmins.html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886200"/>
            <a:ext cx="2560320" cy="1828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40050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4A3B8"/>
                </a:solidFill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418795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Light/corporate · IBM Plex Sans · Familiar business UI · No technical knowledge needed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82880"/>
            <a:ext cx="2011680" cy="100584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182880"/>
            <a:ext cx="2011680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4A3B8"/>
                </a:solidFill>
              </a:rPr>
              <a:t>REGION CARDS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6 live cards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Price, YoY badge, volume — at a glance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182880"/>
            <a:ext cx="2011680" cy="100584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182880"/>
            <a:ext cx="2011680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4A3B8"/>
                </a:solidFill>
              </a:rPr>
              <a:t>FILTERS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3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Region · From year · To year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182880"/>
            <a:ext cx="2011680" cy="100584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182880"/>
            <a:ext cx="2011680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4A3B8"/>
                </a:solidFill>
              </a:rPr>
              <a:t>TREND CHARTS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4 charts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Price · Volume · YoY% · MoM%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21240" y="182880"/>
            <a:ext cx="2011680" cy="100584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21240" y="182880"/>
            <a:ext cx="2011680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4A3B8"/>
                </a:solidFill>
              </a:rPr>
              <a:t>RANKING TABLE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Sortable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All regions: price, vol, YoY, Detached, Flat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14173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D6A4F"/>
                </a:solidFill>
              </a:rPr>
              <a:t>KEY OBSERVATIONS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1664208"/>
            <a:ext cx="8229600" cy="18288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74720" y="1828800"/>
            <a:ext cx="8138160" cy="86868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74720" y="1828800"/>
            <a:ext cx="457200" cy="868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84448" y="202996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82C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41648" y="193852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Select your region in the top filter bar — all charts update instantly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0" y="2834640"/>
            <a:ext cx="8138160" cy="86868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74720" y="2834640"/>
            <a:ext cx="457200" cy="868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84448" y="303580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82C"/>
                </a:solidFill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41648" y="294436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MoM % chart reveals seasonal patterns and short-term market shocks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3840480"/>
            <a:ext cx="8138160" cy="86868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74720" y="3840480"/>
            <a:ext cx="457200" cy="868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84448" y="404164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82C"/>
                </a:solidFill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41648" y="395020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West Midlands consistently carries the highest average price (£217,080)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0" y="4846320"/>
            <a:ext cx="8138160" cy="86868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74720" y="4846320"/>
            <a:ext cx="457200" cy="868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84448" y="504748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82C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41648" y="495604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Ranking table lets managers benchmark their region against peers at a glance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200400" cy="6803136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4A3B8"/>
                </a:solidFill>
              </a:rP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Operations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463040"/>
            <a:ext cx="256032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6002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4A3B8"/>
                </a:solidFill>
              </a:rPr>
              <a:t>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Analysts / Data Teams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1762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4A3B8"/>
                </a:solidFill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359152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Full data console. Every metric, every row — filterable, searchable, sortable.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33101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4A3B8"/>
                </a:solidFill>
              </a:rPr>
              <a:t>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493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Ops_HPIAdmins.html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886200"/>
            <a:ext cx="256032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400507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4A3B8"/>
                </a:solidFill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418795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Dark terminal · JetBrains Mono · Built for analysts · Full transparency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82880"/>
            <a:ext cx="2011680" cy="100584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182880"/>
            <a:ext cx="201168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4A3B8"/>
                </a:solidFill>
              </a:rPr>
              <a:t>RAW 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2,004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Fully paginated &amp; searchable data 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182880"/>
            <a:ext cx="2011680" cy="100584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23560" y="182880"/>
            <a:ext cx="201168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4A3B8"/>
                </a:solidFill>
              </a:rPr>
              <a:t>LIVE FILTERS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5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Region · Year range · Search · Page size · Metric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182880"/>
            <a:ext cx="2011680" cy="100584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182880"/>
            <a:ext cx="201168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4A3B8"/>
                </a:solidFill>
              </a:rPr>
              <a:t>CHARTS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5 live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Trend · YoY · MoM · Volume · Property type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21240" y="182880"/>
            <a:ext cx="2011680" cy="100584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21240" y="182880"/>
            <a:ext cx="201168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256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4A3B8"/>
                </a:solidFill>
              </a:rPr>
              <a:t>DATA FLAGS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4389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12 flagged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841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Nov–Dec 2016 zero-volume rows highlighted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14173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4A3B8"/>
                </a:solidFill>
              </a:rPr>
              <a:t>KEY OBSERVATIONS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1664208"/>
            <a:ext cx="8229600" cy="18288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74720" y="1828800"/>
            <a:ext cx="8138160" cy="86868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74720" y="1828800"/>
            <a:ext cx="457200" cy="8686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84448" y="202996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82C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41648" y="193852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Search bar accepts region name, date (YYYY-MM), or area — table filters instantly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0" y="2834640"/>
            <a:ext cx="8138160" cy="86868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74720" y="2834640"/>
            <a:ext cx="457200" cy="8686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84448" y="303580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82C"/>
                </a:solidFill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41648" y="294436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Click any column header to sort — ascending/descending toggle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3840480"/>
            <a:ext cx="8138160" cy="86868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74720" y="3840480"/>
            <a:ext cx="457200" cy="8686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84448" y="404164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82C"/>
                </a:solidFill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41648" y="395020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7-stat status bar updates to reflect exactly what is in the current filter scope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0" y="4846320"/>
            <a:ext cx="8138160" cy="86868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74720" y="4846320"/>
            <a:ext cx="457200" cy="8686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84448" y="504748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82C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41648" y="4956048"/>
            <a:ext cx="7406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Data gap rows (vol = 0) display a ⚠ warning — no surprises in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840480" cy="6803136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What the data
tells us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3108960" cy="1828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00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Across 4 dashboards,
one coherent story: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320040"/>
            <a:ext cx="7772400" cy="109728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0" y="320040"/>
            <a:ext cx="36576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39319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6A34A"/>
                </a:solidFill>
              </a:rPr>
              <a:t>+355.2%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8869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4A3B8"/>
                </a:solidFill>
              </a:rPr>
              <a:t>MARKET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429768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Average house price rose from £42k (1995) to £192k (2022)
across all 6 metropolitan regions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572768"/>
            <a:ext cx="7772400" cy="109728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572768"/>
            <a:ext cx="36576" cy="10972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645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4A017"/>
                </a:solidFill>
              </a:rPr>
              <a:t>West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1396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4A3B8"/>
                </a:solidFill>
              </a:rPr>
              <a:t>FASTEST GROWER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1682496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West Midlands led appreciation at +381.4%,
followed by Greater Manchester at +378.3%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2825496"/>
            <a:ext cx="7772400" cy="109728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06240" y="2825496"/>
            <a:ext cx="36576" cy="1097280"/>
          </a:xfrm>
          <a:prstGeom prst="rect">
            <a:avLst/>
          </a:prstGeom>
          <a:solidFill>
            <a:srgbClr val="C44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28986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4E2C"/>
                </a:solidFill>
              </a:rPr>
              <a:t>+143.1%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3924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4A3B8"/>
                </a:solidFill>
              </a:rPr>
              <a:t>DETACHED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2935224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Detached properties carry a +143.1% price premium
over flats — consistent across all regions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4078224"/>
            <a:ext cx="7772400" cy="109728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4078224"/>
            <a:ext cx="36576" cy="1097280"/>
          </a:xfrm>
          <a:prstGeom prst="rect">
            <a:avLst/>
          </a:prstGeom>
          <a:solidFill>
            <a:srgbClr val="4A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415137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A6B8C"/>
                </a:solidFill>
              </a:rPr>
              <a:t>£41,410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6451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4A3B8"/>
                </a:solidFill>
              </a:rPr>
              <a:t>REGIONAL SPREAD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4187952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Up to £41k difference between highest
and lowest priced region in the same month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5330952"/>
            <a:ext cx="7772400" cy="109728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06240" y="5330952"/>
            <a:ext cx="36576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5404104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</a:rPr>
              <a:t>2007–09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58978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4A3B8"/>
                </a:solidFill>
              </a:rPr>
              <a:t>MARKET DIP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544068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YoY chart (ExCo / Managers) clearly shows
the financial crisis impact — and the recovery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6803136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4A017"/>
                </a:solidFill>
              </a:rPr>
              <a:t>NEXT STEPS &amp;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Open your dashboard and explore.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607040" cy="1828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2651760" cy="2560320"/>
          </a:xfrm>
          <a:prstGeom prst="rect">
            <a:avLst/>
          </a:prstGeom>
          <a:solidFill>
            <a:srgbClr val="0B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265176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0136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4A017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Open in 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All dashboards are self-contained HTML files — no server needed. Double-click to open.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39" y="1691640"/>
            <a:ext cx="2651760" cy="2560320"/>
          </a:xfrm>
          <a:prstGeom prst="rect">
            <a:avLst/>
          </a:prstGeom>
          <a:solidFill>
            <a:srgbClr val="0B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39" y="1691640"/>
            <a:ext cx="265176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599" y="180136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A6B8C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599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Use the filters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599" y="278892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Region selector and year sliders narrow all charts simultaneously. Start broad, then drill down.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691640"/>
            <a:ext cx="2651760" cy="2560320"/>
          </a:xfrm>
          <a:prstGeom prst="rect">
            <a:avLst/>
          </a:prstGeom>
          <a:solidFill>
            <a:srgbClr val="0B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691640"/>
            <a:ext cx="265176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80136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4A017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Read the User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78892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The HPI_Dashboard_UserGuide.pdf covers every chart, filter, and metric in detail.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59" y="1691640"/>
            <a:ext cx="2651760" cy="2560320"/>
          </a:xfrm>
          <a:prstGeom prst="rect">
            <a:avLst/>
          </a:prstGeom>
          <a:solidFill>
            <a:srgbClr val="0B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81159" y="1691640"/>
            <a:ext cx="265176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19" y="180136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4A017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19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Share your region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19" y="278892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Managers: bookmark your filtered URL view or screenshot for team updates.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572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FILES IN: 20260515/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937760"/>
            <a:ext cx="2148840" cy="457200"/>
          </a:xfrm>
          <a:prstGeom prst="rect">
            <a:avLst/>
          </a:prstGeom>
          <a:solidFill>
            <a:srgbClr val="0B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4937760"/>
            <a:ext cx="2148840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1" y="501091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D4A017"/>
                </a:solidFill>
              </a:rPr>
              <a:t>CEO_HPIAdmins.html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1" y="519379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CEO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4937760"/>
            <a:ext cx="2148840" cy="457200"/>
          </a:xfrm>
          <a:prstGeom prst="rect">
            <a:avLst/>
          </a:prstGeom>
          <a:solidFill>
            <a:srgbClr val="0B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926080" y="4937760"/>
            <a:ext cx="2148840" cy="27432"/>
          </a:xfrm>
          <a:prstGeom prst="rect">
            <a:avLst/>
          </a:prstGeom>
          <a:solidFill>
            <a:srgbClr val="4A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99232" y="501091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4A6B8C"/>
                </a:solidFill>
              </a:rPr>
              <a:t>ExCo_HPIAdmins.html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99232" y="519379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ExCo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12080" y="4937760"/>
            <a:ext cx="2148840" cy="457200"/>
          </a:xfrm>
          <a:prstGeom prst="rect">
            <a:avLst/>
          </a:prstGeom>
          <a:solidFill>
            <a:srgbClr val="0B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212080" y="4937760"/>
            <a:ext cx="2148840" cy="274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85232" y="501091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2D6A4F"/>
                </a:solidFill>
              </a:rPr>
              <a:t>Mgr_HPIAdmins.html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85232" y="519379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Managers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79" y="4937760"/>
            <a:ext cx="2148840" cy="457200"/>
          </a:xfrm>
          <a:prstGeom prst="rect">
            <a:avLst/>
          </a:prstGeom>
          <a:solidFill>
            <a:srgbClr val="0B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98079" y="4937760"/>
            <a:ext cx="2148840" cy="274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71231" y="501091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94A3B8"/>
                </a:solidFill>
              </a:rPr>
              <a:t>Ops_HPIAdmins.html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71231" y="519379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Operations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84080" y="4937760"/>
            <a:ext cx="2148840" cy="457200"/>
          </a:xfrm>
          <a:prstGeom prst="rect">
            <a:avLst/>
          </a:prstGeom>
          <a:solidFill>
            <a:srgbClr val="0B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784080" y="4937760"/>
            <a:ext cx="2148840" cy="274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57232" y="501091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94A3B8"/>
                </a:solidFill>
              </a:rPr>
              <a:t>HPI_Dashboard_UserGuide.pdf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57232" y="5193792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User Guide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217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Confidential · UK House Price Index · HPI Admins · Generated 2026-05-15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