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748272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36576" cy="67482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Executive Committee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2286000" cy="32004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UK HOUSE PRICE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4"/>
                </a:solidFill>
              </a:rPr>
              <a:t>Data-driven insights for every organizational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6 Metropolitan Regions  ·  Jan 1995 – Dec 2022  ·  2,004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47472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we
are working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08760"/>
            <a:ext cx="27432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HPIAdmins · HPIAdmins_v1.xlsx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2,004 monthly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63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January 1995 — December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474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 Metropolitan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069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251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26 (after cleaning)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6634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PROPERTY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846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Detached · Semi-Det · Terraced ·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257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5440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Avg price · Index · Volume · YoY% · MoM%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852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035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flagged rows (Nov–Dec 2016 missing vol.)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6 METROPOLITAN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777240"/>
            <a:ext cx="2468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Midlands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£217,080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+381.4%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2,377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777240"/>
            <a:ext cx="2468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£197,247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+378.3%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2,856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7772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South Yorkshire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£181,866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+364.0%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1,384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0" y="2331720"/>
            <a:ext cx="24688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Yorkshire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£201,584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+352.2%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2,332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Merseyside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£179,493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+330.2%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1,175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331720"/>
            <a:ext cx="24688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Tyne and Wear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72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£175,670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+323.8%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FOUR DASHBOARDS · FOUR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dataset. Tailored for every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651760" cy="5486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C-Suite /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265176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212140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21-year market trajectory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624327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Regional growth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Headline KPIs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72200"/>
            <a:ext cx="2651760" cy="3200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35024"/>
            <a:ext cx="2651760" cy="5486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EXECUTIVE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Senior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883664"/>
            <a:ext cx="265176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212140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4-tab strategic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624327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Property segment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12724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Growth dynamics &amp;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6172200"/>
            <a:ext cx="2651760" cy="3200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280160"/>
            <a:ext cx="2651760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335024"/>
            <a:ext cx="2651760" cy="5486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Regional / Dept Managers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883664"/>
            <a:ext cx="265176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12140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 status cards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24327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Filterable trend 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12724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MoM + YoY signals + ranking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6172200"/>
            <a:ext cx="2651760" cy="3200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1335024"/>
            <a:ext cx="2651760" cy="5486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Analysts / Data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1883664"/>
            <a:ext cx="265176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212140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Full 1,572-row data console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624327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search &amp;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2724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Sortable table + data gap flags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6172200"/>
            <a:ext cx="2651760" cy="3200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9DCEB"/>
                </a:solidFill>
              </a:rPr>
              <a:t>Ops_HPIAdmins.html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C-Suite /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Answers the single question: How is the market performing and where is it heading?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gold · Playfair serif · No filters needed · Scroll-free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MARKET AVERAGE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£192,157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 combined · December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21-YEAR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+355.2%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From £42,213 in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LEADING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Highest total appreciation +381.4%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MONTHLY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11,146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Transactions · December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Market avg grew +355.2% over 21 years — from £42k to £192k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leads with +381.4% total price appreciation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spread across regions: £41k — significant regional divergence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Clean annual trend chart with no noise — built for boardroom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EXCO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Executive Committee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Strategic landscape: regional dynamics, property segments, and growth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blue · Tabbed navigation · Click to explore · Interactive 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Market · Regional · Segments ·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REGIONAL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YoY%, price, volume, property types per 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SEGMENT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+143.1%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Detached vs Flat price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GROWTH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1995→2022 start/end/growth per 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1 — Market Overview: aggregate trends and YoY summary across all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2 — Regions: interactive cards showing each region's price, YoY, and property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3 — Segments: Detached commands +143.1% premium over flats on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4 — Growth Dynamics: rolling YoY chart reveals 2007-2008 downturn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Managers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Regional / Department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Drill into your region. Filter by area, time range, and monitor MoM/YoY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Light/corporate · IBM Plex Sans · Familiar business UI · No technical knowledge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live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Price, YoY badge, volume —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From year · To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TREND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 · Volume · YoY% · MoM%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RANKING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regions: price, vol, YoY, Detached, Flat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Select your region in the top filter bar — all charts update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MoM % chart reveals seasonal patterns and short-term market shocks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consistently carries the highest average price (£217,080)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Ranking table lets managers benchmark their region against peers at a glance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Analysts / Data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Full data console. Every metric, every row — filterable, searchable, sortable.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terminal · JetBrains Mono · Built for analysts · Full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2,004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Fully paginated &amp; searchable 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LIVE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Year range · Search · Page size ·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Trend · YoY · MoM · Volume · Property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DATA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Nov–Dec 2016 zero-volume rows highlighted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 bar accepts region name, date (YYYY-MM), or area — table filters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any column header to sort — ascending/descending toggle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7-stat status bar updates to reflect exactly what is in the current filter scope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 gap rows (vol = 0) display a ⚠ warning — no surprises in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
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108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4"/>
                </a:solidFill>
              </a:rPr>
              <a:t>Across 4 dashboards,
one coherent story: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20040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20040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+355.2%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886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297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Average house price rose from £42k (1995) to £192k (2022)
across all 6 metropolitan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FASTEST GROWER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8249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West Midlands led appreciation at +381.4%,
followed by Greater Manchester at +378.3%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25496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25496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+143.1%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DETACHED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35224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Detached properties carry a +143.1% price premium
over flats — consistent across 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78224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078224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513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£41,410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45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REGIONAL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18795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 to £41k difference between highest
and lowest priced region in the same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30952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330952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4041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2007–09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97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DIP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406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YoY chart (ExCo / Managers) clearly shows
the financial crisis impact — and the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NEXT STEPS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your dashboard and explore.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All dashboards are self-contained HTML files — no server needed. Double-click to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 the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Region selector and year sliders narrow all charts simultaneously. Start broad, then drill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 the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The HPI_Dashboard_UserGuide.pdf covers every chart, filter, and metric in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Share your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Managers: bookmark your filtered URL view or screenshot for team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FILES IN: 20260515/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1488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214884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937760"/>
            <a:ext cx="2148840" cy="27432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937760"/>
            <a:ext cx="2148840" cy="27432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937760"/>
            <a:ext cx="2148840" cy="27432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A9BB4"/>
                </a:solidFill>
              </a:rPr>
              <a:t>HPI_Dashboard_UserGuide.pdf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A9BB4"/>
                </a:solidFill>
              </a:rPr>
              <a:t>Confidential · UK House Price Index · HPI Admins · Generated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