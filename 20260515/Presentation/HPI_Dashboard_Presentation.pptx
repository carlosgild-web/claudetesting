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457200" cy="6748272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4864"/>
            <a:ext cx="36576" cy="67482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2286000" cy="320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CEO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5029200"/>
            <a:ext cx="228600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Executive Committee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5029200"/>
            <a:ext cx="2286000" cy="32004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Managers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5029200"/>
            <a:ext cx="2286000" cy="32004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423"/>
                </a:solidFill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UK HOUSE PRICE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783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Dashboard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A9BB4"/>
                </a:solidFill>
              </a:rPr>
              <a:t>Data-driven insights for every organizational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657600"/>
            <a:ext cx="7315200" cy="18288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6 Metropolitan Regions  ·  Jan 1995 – Oct 2016  ·  1,572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474720" cy="6803136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What we
are working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08760"/>
            <a:ext cx="27432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916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8745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HPIAdmins · HPIAdmins_v1.xlsx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2860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4688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1,572 monthly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88036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0632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January 1995 — October 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347472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REGIONS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657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6 Metropolitan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0690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42519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26 (after cleaning)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46634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PROPERTY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48463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Detached · Semi-Det · Terraced · Flat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52578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54406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Avg price · Index · Volume · YoY% · MoM%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585216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</a:rPr>
              <a:t>DATA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60350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12 flagged rows (Nov–Dec 2016 missing vol.)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6 METROPOLITAN REGIONS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77724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0" y="777240"/>
            <a:ext cx="2468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0208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Greater Manchester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1161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Northwest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208" y="1399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£151,714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1737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+267.9%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2,913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77724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777240"/>
            <a:ext cx="24688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West Midlands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1161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Midlands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1399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£162,547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1737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+260.5%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2,518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77724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777240"/>
            <a:ext cx="2468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53728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South Yorkshire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161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1399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£131,634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728" y="1737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+235.8%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1,301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233172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40480" y="2331720"/>
            <a:ext cx="24688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50208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Tyne and Wear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5020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5020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£136,971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50208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+230.5%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974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233172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92240" y="2331720"/>
            <a:ext cx="246888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01968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West Yorkshire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£145,686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1968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+226.8%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2,495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0" y="2331720"/>
            <a:ext cx="2468880" cy="137160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44000" y="233172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53728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Merseyside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5372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Northwest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5372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£134,017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53728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Growth: +221.2%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2416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4"/>
                </a:solidFill>
              </a:rPr>
              <a:t>Vol: 1,351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8A6FF"/>
                </a:solidFill>
              </a:rPr>
              <a:t>FOUR DASHBOARDS · FOUR AUDIENCES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One dataset. Tailored for every 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0972800" cy="18288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26517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2651760" cy="548640"/>
          </a:xfrm>
          <a:prstGeom prst="rect">
            <a:avLst/>
          </a:prstGeom>
          <a:solidFill>
            <a:srgbClr val="1C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C-Suite / 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83664"/>
            <a:ext cx="265176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79" y="2121408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21-year market trajectory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2624327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Regional growth ranking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3127248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Headline KPIs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172200"/>
            <a:ext cx="2651760" cy="320040"/>
          </a:xfrm>
          <a:prstGeom prst="rect">
            <a:avLst/>
          </a:prstGeom>
          <a:solidFill>
            <a:srgbClr val="1C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9A84C"/>
                </a:solidFill>
              </a:rPr>
              <a:t>CEO_HPIAdmins.html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280160"/>
            <a:ext cx="2651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1335024"/>
            <a:ext cx="2651760" cy="548640"/>
          </a:xfrm>
          <a:prstGeom prst="rect">
            <a:avLst/>
          </a:prstGeom>
          <a:solidFill>
            <a:srgbClr val="04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84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8A6FF"/>
                </a:solidFill>
              </a:rPr>
              <a:t>EXECUTIVE COMMITTEE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Senior Leadership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1883664"/>
            <a:ext cx="2651760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2121408"/>
            <a:ext cx="64008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4-tab strategic 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2624327"/>
            <a:ext cx="64008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Property segment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3127248"/>
            <a:ext cx="64008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Growth dynamics &amp; benchmarks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6172200"/>
            <a:ext cx="2651760" cy="320040"/>
          </a:xfrm>
          <a:prstGeom prst="rect">
            <a:avLst/>
          </a:prstGeom>
          <a:solidFill>
            <a:srgbClr val="04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8A6FF"/>
                </a:solidFill>
              </a:rPr>
              <a:t>ExCo_HPIAdmins.html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1280160"/>
            <a:ext cx="2651760" cy="54864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1335024"/>
            <a:ext cx="2651760" cy="548640"/>
          </a:xfrm>
          <a:prstGeom prst="rect">
            <a:avLst/>
          </a:prstGeom>
          <a:solidFill>
            <a:srgbClr val="04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8A6F"/>
                </a:solidFill>
              </a:rPr>
              <a:t>MANAGERS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Regional / Dept Managers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1883664"/>
            <a:ext cx="2651760" cy="1828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2121408"/>
            <a:ext cx="64008" cy="6400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Region status cards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624327"/>
            <a:ext cx="64008" cy="6400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Filterable trend charts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3127248"/>
            <a:ext cx="64008" cy="6400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MoM + YoY signals + ranking table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6172200"/>
            <a:ext cx="2651760" cy="320040"/>
          </a:xfrm>
          <a:prstGeom prst="rect">
            <a:avLst/>
          </a:prstGeom>
          <a:solidFill>
            <a:srgbClr val="04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D8A6F"/>
                </a:solidFill>
              </a:rPr>
              <a:t>Mgr_HPIAdmins.html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1280160"/>
            <a:ext cx="2651760" cy="52120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98280" y="1280160"/>
            <a:ext cx="2651760" cy="54864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98280" y="1335024"/>
            <a:ext cx="2651760" cy="548640"/>
          </a:xfrm>
          <a:prstGeom prst="rect">
            <a:avLst/>
          </a:prstGeom>
          <a:solidFill>
            <a:srgbClr val="0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0800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9DCEB"/>
                </a:solidFill>
              </a:rPr>
              <a:t>OPERATIONS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0800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4"/>
                </a:solidFill>
              </a:rPr>
              <a:t>Analysts / Data Teams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1883664"/>
            <a:ext cx="2651760" cy="1828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89720" y="2121408"/>
            <a:ext cx="64008" cy="6400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Full 1,572-row data console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89720" y="2624327"/>
            <a:ext cx="64008" cy="6400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Real-time search &amp; filter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20" y="3127248"/>
            <a:ext cx="64008" cy="6400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Sortable table + data gap flags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98280" y="6172200"/>
            <a:ext cx="2651760" cy="320040"/>
          </a:xfrm>
          <a:prstGeom prst="rect">
            <a:avLst/>
          </a:prstGeom>
          <a:solidFill>
            <a:srgbClr val="0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89720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9DCEB"/>
                </a:solidFill>
              </a:rPr>
              <a:t>Ops_HPIAdmins.html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1C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CEO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C-Suite /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Answers the single question: How is the market performing and where is it heading?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9A84C"/>
                </a:solidFill>
              </a:rPr>
              <a:t>CEO_HPIAdmins.html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Dark gold · Playfair serif · No filters needed · Scroll-free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MARKET AVERAGE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£143,761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All regions combined · October 2016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21-YEAR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+240.6%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From £42,213 in 1995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LEADING REGION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Greater Manchester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Highest total appreciation +267.9%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MONTHLY VOLUME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11,552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Transactions · October 2016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Market avg grew +240.6% over 21 years — from £42k to £144k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Greater Manchester leads with +267.9% total price appreciation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Price spread across regions: £31k — significant regional divergence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Clean annual trend chart with no noise — built for boardroom screens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04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8A6FF"/>
                </a:solidFill>
              </a:rPr>
              <a:t>EXCO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Executive Committee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Senior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Strategic landscape: regional dynamics, property segments, and growth benchmarks.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8A6FF"/>
                </a:solidFill>
              </a:rPr>
              <a:t>ExCo_HPIAdmins.html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Dark blue · Tabbed navigation · Click to explore · Interactive legend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TABS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Market · Regional · Segments · Growth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REGIONAL 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 cards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YoY%, price, volume, property types per region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SEGMENT PREMIUM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+133.9%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Detached vs Flat price gap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GROWTH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Full ranking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1995→2016 start/end/growth per region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8A6FF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1 — Market Overview: aggregate trends and YoY summary across all regions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2 — Regions: interactive cards showing each region's price, YoY, and property breakdown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3 — Segments: Detached commands +133.9% premium over flats on average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4 — Growth Dynamics: rolling YoY chart reveals 2007-2008 downturn and recovery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04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8A6F"/>
                </a:solidFill>
              </a:rPr>
              <a:t>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Managers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Regional / Department Managers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Drill into your region. Filter by area, time range, and monitor MoM/YoY signals.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D8A6F"/>
                </a:solidFill>
              </a:rPr>
              <a:t>Mgr_HPIAdmins.html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Light/corporate · IBM Plex Sans · Familiar business UI · No technical knowledge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REGION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 live 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Price, YoY badge, volume — at a glance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Region · From year · To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TREND 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 charts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Price · Volume · YoY% · MoM%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RANKING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Sortable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All regions: price, vol, YoY, Detached, Flat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8A6F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Select your region in the top filter bar — all charts update instantly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MoM % chart reveals seasonal patterns and short-term market shocks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West Midlands consistently carries the highest average price (£162,547)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Ranking table lets managers benchmark their region against peers at a glance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0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9DCEB"/>
                </a:solidFill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Operations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Analysts / Data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Full data console. Every metric, every row — filterable, searchable, sortable.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9DCEB"/>
                </a:solidFill>
              </a:rPr>
              <a:t>Ops_HPIAdmins.html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9BB4"/>
                </a:solidFill>
              </a:rPr>
              <a:t>Dark terminal · JetBrains Mono · Built for analysts · Full transparency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RAW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1,572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Fully paginated &amp; searchable data 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LIVE 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Region · Year range · Search · Page size · Metric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Trend · YoY · MoM · Volume · Property 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9BB4"/>
                </a:solidFill>
              </a:rPr>
              <a:t>DATA FLAGS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12 flagged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BB4"/>
                </a:solidFill>
              </a:rPr>
              <a:t>Nov–Dec 2016 zero-volume rows highlighted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9DCEB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Search bar accepts region name, date (YYYY-MM), or area — table filters instantly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Click any column header to sort — ascending/descending toggle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7-stat status bar updates to reflect exactly what is in the current filter scope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423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Data gap rows (vol = 0) display a ⚠ warning — no surprises in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840480" cy="6803136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the data
tells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10896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4"/>
                </a:solidFill>
              </a:rPr>
              <a:t>Across 4 dashboards,
one coherent story: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320040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320040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3931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+240.6%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886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MARKET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429768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Average house price rose from £42k (1995) to £144k (2016)
across all 6 metropolitan regions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572768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572768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45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Greater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39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FASTEST GROWER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682496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Greater Manchester led appreciation at +267.9%,
followed by West Midlands at +260.5%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825496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2825496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8986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+133.9%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3924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DETACHED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935224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Detached properties carry a +133.9% price premium
over flats — consistent across all regions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4078224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4078224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415137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£30,913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6451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REGIONAL SPREAD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4187952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Up to £31k difference between highest
and lowest priced region in the same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5330952"/>
            <a:ext cx="7772400" cy="1097280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5330952"/>
            <a:ext cx="36576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540410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2007–09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8978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BB4"/>
                </a:solidFill>
              </a:rPr>
              <a:t>MARKET DIP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544068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YoY chart (ExCo / Managers) clearly shows
the financial crisis impact — and the recovery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17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NEXT STEPS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Open your dashboard and explore.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60704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Open in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All dashboards are self-contained HTML files — no server needed. Double-click to open.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9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9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 the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599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Region selector and year sliders narrow all charts simultaneously. Start broad, then drill 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Read the User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The HPI_Dashboard_UserGuide.pdf covers every chart, filter, and metric in detail.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59" y="1691640"/>
            <a:ext cx="2651760" cy="2560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59" y="1691640"/>
            <a:ext cx="26517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19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Share your region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4"/>
                </a:solidFill>
              </a:rPr>
              <a:t>Managers: bookmark your filtered URL view or screenshot for team updates.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4"/>
                </a:solidFill>
              </a:rPr>
              <a:t>FILES IN: 20260515/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214884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1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9A84C"/>
                </a:solidFill>
              </a:rPr>
              <a:t>CEO_HPIAdmins.html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1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26080" y="4937760"/>
            <a:ext cx="214884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9232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58A6FF"/>
                </a:solidFill>
              </a:rPr>
              <a:t>ExCo_HPIAdmins.html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99232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ExCo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12080" y="4937760"/>
            <a:ext cx="2148840" cy="27432"/>
          </a:xfrm>
          <a:prstGeom prst="rect">
            <a:avLst/>
          </a:prstGeom>
          <a:solidFill>
            <a:srgbClr val="1D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85232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D8A6F"/>
                </a:solidFill>
              </a:rPr>
              <a:t>Mgr_HPIAdmins.html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5232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Managers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8079" y="4937760"/>
            <a:ext cx="2148840" cy="27432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71231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89DCEB"/>
                </a:solidFill>
              </a:rPr>
              <a:t>Ops_HPIAdmins.html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1231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4937760"/>
            <a:ext cx="214884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84080" y="4937760"/>
            <a:ext cx="2148840" cy="27432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57232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8A9BB4"/>
                </a:solidFill>
              </a:rPr>
              <a:t>HPI_Dashboard_UserGuide.pdf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User Guide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A9BB4"/>
                </a:solidFill>
              </a:rPr>
              <a:t>Confidential · UK House Price Index · HPI Admins · Generated 2026-05-15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